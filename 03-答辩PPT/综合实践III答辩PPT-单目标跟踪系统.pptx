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2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2A52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36000"/>
            <a:ext cx="12192119" cy="360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0000" y="1224000"/>
            <a:ext cx="10728000" cy="10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BFD3F0"/>
                </a:solidFill>
                <a:latin typeface="微软雅黑"/>
                <a:ea typeface="微软雅黑"/>
              </a:rPr>
              <a:t>综合实践III 课程设计答辩</a:t>
            </a:r>
          </a:p>
          <a:p>
            <a:pPr algn="l">
              <a:spcAft>
                <a:spcPts val="1600"/>
              </a:spcAft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单目标跟踪系统的设计与实现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E8EEF8"/>
                </a:solidFill>
                <a:latin typeface="微软雅黑"/>
                <a:ea typeface="微软雅黑"/>
              </a:rPr>
              <a:t>——基于微信小程序 · Spring Boot · OpenCV 的三端联动系统——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0000" y="4824000"/>
            <a:ext cx="10728000" cy="1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微软雅黑"/>
                <a:ea typeface="微软雅黑"/>
              </a:rPr>
              <a:t>答辩人：【姓名1】　学号：【学号1】　（组长）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微软雅黑"/>
                <a:ea typeface="微软雅黑"/>
              </a:rPr>
              <a:t>团队成员：【姓名2】　学号：【学号2】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微软雅黑"/>
                <a:ea typeface="微软雅黑"/>
              </a:rPr>
              <a:t>指导教师：罗颂、罗娅、贺筠</a:t>
            </a:r>
          </a:p>
          <a:p>
            <a:pPr algn="l">
              <a:spcAft>
                <a:spcPts val="1000"/>
              </a:spcAft>
            </a:pPr>
            <a:r>
              <a:rPr sz="1900" b="0">
                <a:solidFill>
                  <a:srgbClr val="FFFFFF"/>
                </a:solidFill>
                <a:latin typeface="微软雅黑"/>
                <a:ea typeface="微软雅黑"/>
              </a:rPr>
              <a:t>班级：【班级】　时间：2026 年 7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56000"/>
          </a:xfrm>
          <a:prstGeom prst="rect">
            <a:avLst/>
          </a:prstGeom>
          <a:solidFill>
            <a:srgbClr val="2A52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6000"/>
            <a:ext cx="12192119" cy="432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00800"/>
            <a:ext cx="936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目录 CONTENTS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72000" y="180000"/>
            <a:ext cx="936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000" y="1224000"/>
            <a:ext cx="9864000" cy="43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800"/>
              </a:spcAft>
            </a:pPr>
            <a:r>
              <a:rPr sz="2000" b="0">
                <a:solidFill>
                  <a:srgbClr val="1F2D3D"/>
                </a:solidFill>
                <a:latin typeface="微软雅黑"/>
                <a:ea typeface="微软雅黑"/>
              </a:rPr>
              <a:t>  01 课题背景与目标</a:t>
            </a:r>
          </a:p>
          <a:p>
            <a:pPr>
              <a:spcAft>
                <a:spcPts val="1800"/>
              </a:spcAft>
            </a:pPr>
            <a:r>
              <a:rPr sz="2000" b="0">
                <a:solidFill>
                  <a:srgbClr val="1F2D3D"/>
                </a:solidFill>
                <a:latin typeface="微软雅黑"/>
                <a:ea typeface="微软雅黑"/>
              </a:rPr>
              <a:t>  02 系统总体架构与流程</a:t>
            </a:r>
          </a:p>
          <a:p>
            <a:pPr>
              <a:spcAft>
                <a:spcPts val="1800"/>
              </a:spcAft>
            </a:pPr>
            <a:r>
              <a:rPr sz="2000" b="0">
                <a:solidFill>
                  <a:srgbClr val="1F2D3D"/>
                </a:solidFill>
                <a:latin typeface="微软雅黑"/>
                <a:ea typeface="微软雅黑"/>
              </a:rPr>
              <a:t>  03 需求分析</a:t>
            </a:r>
          </a:p>
          <a:p>
            <a:pPr>
              <a:spcAft>
                <a:spcPts val="1800"/>
              </a:spcAft>
            </a:pPr>
            <a:r>
              <a:rPr sz="2000" b="0">
                <a:solidFill>
                  <a:srgbClr val="1F2D3D"/>
                </a:solidFill>
                <a:latin typeface="微软雅黑"/>
                <a:ea typeface="微软雅黑"/>
              </a:rPr>
              <a:t>  04 视觉模块设计（核心）</a:t>
            </a:r>
          </a:p>
          <a:p>
            <a:pPr>
              <a:spcAft>
                <a:spcPts val="1800"/>
              </a:spcAft>
            </a:pPr>
            <a:r>
              <a:rPr sz="2000" b="0">
                <a:solidFill>
                  <a:srgbClr val="1F2D3D"/>
                </a:solidFill>
                <a:latin typeface="微软雅黑"/>
                <a:ea typeface="微软雅黑"/>
              </a:rPr>
              <a:t>  05 后端 · 管理端 · 数据库</a:t>
            </a:r>
          </a:p>
          <a:p>
            <a:pPr>
              <a:spcAft>
                <a:spcPts val="1800"/>
              </a:spcAft>
            </a:pPr>
            <a:r>
              <a:rPr sz="2000" b="0">
                <a:solidFill>
                  <a:srgbClr val="2A5298"/>
                </a:solidFill>
                <a:latin typeface="微软雅黑"/>
                <a:ea typeface="微软雅黑"/>
              </a:rPr>
              <a:t>  06 小程序端实现</a:t>
            </a:r>
          </a:p>
          <a:p>
            <a:pPr>
              <a:spcAft>
                <a:spcPts val="1800"/>
              </a:spcAft>
            </a:pPr>
            <a:r>
              <a:rPr sz="2000" b="0">
                <a:solidFill>
                  <a:srgbClr val="2A5298"/>
                </a:solidFill>
                <a:latin typeface="微软雅黑"/>
                <a:ea typeface="微软雅黑"/>
              </a:rPr>
              <a:t>  07 运行效果展示</a:t>
            </a:r>
          </a:p>
          <a:p>
            <a:pPr>
              <a:spcAft>
                <a:spcPts val="1800"/>
              </a:spcAft>
            </a:pPr>
            <a:r>
              <a:rPr sz="2000" b="0">
                <a:solidFill>
                  <a:srgbClr val="2A5298"/>
                </a:solidFill>
                <a:latin typeface="微软雅黑"/>
                <a:ea typeface="微软雅黑"/>
              </a:rPr>
              <a:t>  08 系统测试</a:t>
            </a:r>
          </a:p>
          <a:p>
            <a:pPr>
              <a:spcAft>
                <a:spcPts val="1800"/>
              </a:spcAft>
            </a:pPr>
            <a:r>
              <a:rPr sz="2000" b="0">
                <a:solidFill>
                  <a:srgbClr val="2A5298"/>
                </a:solidFill>
                <a:latin typeface="微软雅黑"/>
                <a:ea typeface="微软雅黑"/>
              </a:rPr>
              <a:t>  09 项目管理与团队分工</a:t>
            </a:r>
          </a:p>
          <a:p>
            <a:pPr>
              <a:spcAft>
                <a:spcPts val="1800"/>
              </a:spcAft>
            </a:pPr>
            <a:r>
              <a:rPr sz="2000" b="0">
                <a:solidFill>
                  <a:srgbClr val="2A5298"/>
                </a:solidFill>
                <a:latin typeface="微软雅黑"/>
                <a:ea typeface="微软雅黑"/>
              </a:rPr>
              <a:t>  10 总结与展望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56000"/>
          </a:xfrm>
          <a:prstGeom prst="rect">
            <a:avLst/>
          </a:prstGeom>
          <a:solidFill>
            <a:srgbClr val="2A52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6000"/>
            <a:ext cx="12192119" cy="432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00800"/>
            <a:ext cx="936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01 课题背景与目标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72000" y="180000"/>
            <a:ext cx="936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007999"/>
            <a:ext cx="11088000" cy="50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2A5298"/>
                </a:solidFill>
                <a:latin typeface="微软雅黑"/>
                <a:ea typeface="微软雅黑"/>
              </a:rPr>
              <a:t>任务书要求：同时涉及 Web 开发（管理端）+ 移动开发（小程序端）+ 机器视觉（核心），三端联动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F2D3D"/>
                </a:solidFill>
                <a:latin typeface="微软雅黑"/>
                <a:ea typeface="微软雅黑"/>
              </a:rPr>
              <a:t>▪ 系统流程：小程序登录 → 提交视频/图片 → 服务端视觉处理 → 结果回存 → Web 端管理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27AE60"/>
                </a:solidFill>
                <a:latin typeface="微软雅黑"/>
                <a:ea typeface="微软雅黑"/>
              </a:rPr>
              <a:t>我们选择视觉场景：单目标跟踪（Python + OpenCV）</a:t>
            </a:r>
          </a:p>
          <a:p>
            <a:pPr algn="l">
              <a:spcAft>
                <a:spcPts val="1000"/>
              </a:spcAft>
            </a:pPr>
            <a:r>
              <a:rPr sz="1700" b="1">
                <a:solidFill>
                  <a:srgbClr val="E67E22"/>
                </a:solidFill>
                <a:latin typeface="微软雅黑"/>
                <a:ea typeface="微软雅黑"/>
              </a:rPr>
              <a:t>核心目标：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D3D"/>
                </a:solidFill>
                <a:latin typeface="微软雅黑"/>
                <a:ea typeface="微软雅黑"/>
              </a:rPr>
              <a:t>▪ ① 用户框选目标后持续跟踪并绘制轨迹；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D3D"/>
                </a:solidFill>
                <a:latin typeface="微软雅黑"/>
                <a:ea typeface="微软雅黑"/>
              </a:rPr>
              <a:t>▪ ② 目标被短暂遮挡后再次出现时，能自动重新捕捉并继续跟踪（遮挡重检测）；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D3D"/>
                </a:solidFill>
                <a:latin typeface="微软雅黑"/>
                <a:ea typeface="微软雅黑"/>
              </a:rPr>
              <a:t>▪ ③ 跟踪结果（结果视频/轨迹/统计）可存储、查询、回看；管理员可管理用户与任务；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F2D3D"/>
                </a:solidFill>
                <a:latin typeface="微软雅黑"/>
                <a:ea typeface="微软雅黑"/>
              </a:rPr>
              <a:t>▪ ④ 遵循软件工程规范：界面展示、命名注释规范、Git 团队协作、文档与测试齐全。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56000"/>
          </a:xfrm>
          <a:prstGeom prst="rect">
            <a:avLst/>
          </a:prstGeom>
          <a:solidFill>
            <a:srgbClr val="2A52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6000"/>
            <a:ext cx="12192119" cy="432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00800"/>
            <a:ext cx="936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02 系统总体架构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72000" y="180000"/>
            <a:ext cx="936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007999"/>
            <a:ext cx="11088000" cy="50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>
                <a:solidFill>
                  <a:srgbClr val="2A5298"/>
                </a:solidFill>
                <a:latin typeface="微软雅黑"/>
                <a:ea typeface="微软雅黑"/>
              </a:rPr>
              <a:t>四层架构：表现层（小程序/Web管理端）— 业务服务层（Spring Boot）— 视觉处理层（Python+OpenCV）— 数据层（MySQL+文件）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606A76"/>
                </a:solidFill>
                <a:latin typeface="微软雅黑"/>
                <a:ea typeface="微软雅黑"/>
              </a:rPr>
              <a:t>▪ 视觉处理独立成服务，通过 REST 与后端解耦，便于算法替换与升级</a:t>
            </a:r>
          </a:p>
        </p:txBody>
      </p:sp>
      <p:pic>
        <p:nvPicPr>
          <p:cNvPr id="7" name="Picture 6" descr="fig1_1_系统总体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000" y="1872000"/>
            <a:ext cx="10008000" cy="6995961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56000"/>
          </a:xfrm>
          <a:prstGeom prst="rect">
            <a:avLst/>
          </a:prstGeom>
          <a:solidFill>
            <a:srgbClr val="2A52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6000"/>
            <a:ext cx="12192119" cy="432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00800"/>
            <a:ext cx="936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02 系统流程与技术选型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72000" y="180000"/>
            <a:ext cx="936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05</a:t>
            </a:r>
          </a:p>
        </p:txBody>
      </p:sp>
      <p:pic>
        <p:nvPicPr>
          <p:cNvPr id="6" name="Picture 5" descr="fig1_3_系统处理时序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1080000"/>
            <a:ext cx="6300000" cy="417115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56000" y="1152000"/>
            <a:ext cx="4752000" cy="50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200"/>
              </a:spcAft>
            </a:pPr>
            <a:r>
              <a:rPr sz="1900" b="1">
                <a:solidFill>
                  <a:srgbClr val="2A5298"/>
                </a:solidFill>
                <a:latin typeface="微软雅黑"/>
                <a:ea typeface="微软雅黑"/>
              </a:rPr>
              <a:t>技术选型</a:t>
            </a:r>
          </a:p>
          <a:p>
            <a:pPr algn="l">
              <a:spcAft>
                <a:spcPts val="1000"/>
              </a:spcAft>
            </a:pPr>
            <a:r>
              <a:rPr sz="1450" b="0">
                <a:solidFill>
                  <a:srgbClr val="1F2D3D"/>
                </a:solidFill>
                <a:latin typeface="微软雅黑"/>
                <a:ea typeface="微软雅黑"/>
              </a:rPr>
              <a:t>用户端：微信原生小程序（wx.uploadFile 上传）</a:t>
            </a:r>
          </a:p>
          <a:p>
            <a:pPr algn="l">
              <a:spcAft>
                <a:spcPts val="1000"/>
              </a:spcAft>
            </a:pPr>
            <a:r>
              <a:rPr sz="1450" b="0">
                <a:solidFill>
                  <a:srgbClr val="1F2D3D"/>
                </a:solidFill>
                <a:latin typeface="微软雅黑"/>
                <a:ea typeface="微软雅黑"/>
              </a:rPr>
              <a:t>管理端：原生单页零构建，随静态资源发布</a:t>
            </a:r>
          </a:p>
          <a:p>
            <a:pPr algn="l">
              <a:spcAft>
                <a:spcPts val="1000"/>
              </a:spcAft>
            </a:pPr>
            <a:r>
              <a:rPr sz="1450" b="0">
                <a:solidFill>
                  <a:srgbClr val="1F2D3D"/>
                </a:solidFill>
                <a:latin typeface="微软雅黑"/>
                <a:ea typeface="微软雅黑"/>
              </a:rPr>
              <a:t>后端：Spring Boot 3 + MyBatis + JWT + BCrypt</a:t>
            </a:r>
          </a:p>
          <a:p>
            <a:pPr algn="l">
              <a:spcAft>
                <a:spcPts val="1000"/>
              </a:spcAft>
            </a:pPr>
            <a:r>
              <a:rPr sz="1450" b="0">
                <a:solidFill>
                  <a:srgbClr val="1F2D3D"/>
                </a:solidFill>
                <a:latin typeface="微软雅黑"/>
                <a:ea typeface="微软雅黑"/>
              </a:rPr>
              <a:t>视觉：OpenCV CSRT + ORB/HSV 重检测 + FastAPI</a:t>
            </a:r>
          </a:p>
          <a:p>
            <a:pPr algn="l">
              <a:spcAft>
                <a:spcPts val="1000"/>
              </a:spcAft>
            </a:pPr>
            <a:r>
              <a:rPr sz="1450" b="0">
                <a:solidFill>
                  <a:srgbClr val="1F2D3D"/>
                </a:solidFill>
                <a:latin typeface="微软雅黑"/>
                <a:ea typeface="微软雅黑"/>
              </a:rPr>
              <a:t>数据：MySQL 8.0 + 磁盘文件（/files 映射）</a:t>
            </a:r>
          </a:p>
          <a:p>
            <a:pPr algn="l">
              <a:spcAft>
                <a:spcPts val="1000"/>
              </a:spcAft>
            </a:pPr>
            <a:r>
              <a:rPr sz="1450" b="0">
                <a:solidFill>
                  <a:srgbClr val="1F2D3D"/>
                </a:solidFill>
                <a:latin typeface="微软雅黑"/>
                <a:ea typeface="微软雅黑"/>
              </a:rPr>
              <a:t>协作：Git 版本控制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56000"/>
          </a:xfrm>
          <a:prstGeom prst="rect">
            <a:avLst/>
          </a:prstGeom>
          <a:solidFill>
            <a:srgbClr val="2A52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6000"/>
            <a:ext cx="12192119" cy="432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00800"/>
            <a:ext cx="936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03 需求分析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72000" y="180000"/>
            <a:ext cx="936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06</a:t>
            </a:r>
          </a:p>
        </p:txBody>
      </p:sp>
      <p:pic>
        <p:nvPicPr>
          <p:cNvPr id="6" name="Picture 5" descr="fig1_2_系统用例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1224000"/>
            <a:ext cx="6120000" cy="387412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68000" y="1224000"/>
            <a:ext cx="5040000" cy="4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2A5298"/>
                </a:solidFill>
                <a:latin typeface="微软雅黑"/>
                <a:ea typeface="微软雅黑"/>
              </a:rPr>
              <a:t>功能需求（F-01~F-10）</a:t>
            </a:r>
          </a:p>
          <a:p>
            <a:pPr algn="l">
              <a:spcAft>
                <a:spcPts val="1200"/>
              </a:spcAft>
            </a:pPr>
            <a:r>
              <a:rPr sz="1450" b="0">
                <a:solidFill>
                  <a:srgbClr val="1F2D3D"/>
                </a:solidFill>
                <a:latin typeface="微软雅黑"/>
                <a:ea typeface="微软雅黑"/>
              </a:rPr>
              <a:t>▪ 普通用户：注册 / 登录 / 改密 / 上传视频 / 结果回看 / 历史记录</a:t>
            </a:r>
          </a:p>
          <a:p>
            <a:pPr algn="l">
              <a:spcAft>
                <a:spcPts val="1200"/>
              </a:spcAft>
            </a:pPr>
            <a:r>
              <a:rPr sz="1450" b="0">
                <a:solidFill>
                  <a:srgbClr val="1F2D3D"/>
                </a:solidFill>
                <a:latin typeface="微软雅黑"/>
                <a:ea typeface="微软雅黑"/>
              </a:rPr>
              <a:t>▪ 管理员：用户查询·新增·删除·重置密码 / 任务管理 / 系统统计</a:t>
            </a:r>
          </a:p>
          <a:p>
            <a:pPr algn="l">
              <a:spcAft>
                <a:spcPts val="1200"/>
              </a:spcAft>
            </a:pPr>
            <a:r>
              <a:rPr sz="1450" b="0">
                <a:solidFill>
                  <a:srgbClr val="1F2D3D"/>
                </a:solidFill>
                <a:latin typeface="微软雅黑"/>
                <a:ea typeface="微软雅黑"/>
              </a:rPr>
              <a:t>▪ 视觉处理：CSRT 跟踪 + 遮挡检测 + 自动重检测恢复</a:t>
            </a:r>
          </a:p>
          <a:p>
            <a:pPr algn="l">
              <a:spcAft>
                <a:spcPts val="1200"/>
              </a:spcAft>
            </a:pPr>
            <a:r>
              <a:rPr sz="1450" b="0">
                <a:solidFill>
                  <a:srgbClr val="1F2D3D"/>
                </a:solidFill>
                <a:latin typeface="微软雅黑"/>
                <a:ea typeface="微软雅黑"/>
              </a:rPr>
              <a:t>▪ 非功能：实时性(≥25FPS)、BCrypt+JWT 安全、异步任务状态机、失败留痕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56000"/>
          </a:xfrm>
          <a:prstGeom prst="rect">
            <a:avLst/>
          </a:prstGeom>
          <a:solidFill>
            <a:srgbClr val="2A52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6000"/>
            <a:ext cx="12192119" cy="432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00800"/>
            <a:ext cx="936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04 视觉模块设计：跟踪器状态机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72000" y="180000"/>
            <a:ext cx="936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07</a:t>
            </a:r>
          </a:p>
        </p:txBody>
      </p:sp>
      <p:pic>
        <p:nvPicPr>
          <p:cNvPr id="6" name="Picture 5" descr="fig3_1_跟踪器状态机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1152000"/>
            <a:ext cx="7020000" cy="41481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6000" y="1224000"/>
            <a:ext cx="4104000" cy="50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2A5298"/>
                </a:solidFill>
                <a:latin typeface="微软雅黑"/>
                <a:ea typeface="微软雅黑"/>
              </a:rPr>
              <a:t>设计要点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F2D3D"/>
                </a:solidFill>
                <a:latin typeface="微软雅黑"/>
                <a:ea typeface="微软雅黑"/>
              </a:rPr>
              <a:t>▪ 初始化：目标框 → 参考灰度模板 + HSV 直方图模型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F2D3D"/>
                </a:solidFill>
                <a:latin typeface="微软雅黑"/>
                <a:ea typeface="微软雅黑"/>
              </a:rPr>
              <a:t>▪ 正常跟踪：CSRT 逐帧更新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F2D3D"/>
                </a:solidFill>
                <a:latin typeface="微软雅黑"/>
                <a:ea typeface="微软雅黑"/>
              </a:rPr>
              <a:t>▪ 丢失判定：每5帧直方图相关度校验 + 越界检查，连续3帧确认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F2D3D"/>
                </a:solidFill>
                <a:latin typeface="微软雅黑"/>
                <a:ea typeface="微软雅黑"/>
              </a:rPr>
              <a:t>▪ 搜索恢复：多尺度模板匹配 + 直方图验证，连续2帧命中即恢复</a:t>
            </a:r>
          </a:p>
          <a:p>
            <a:pPr algn="l">
              <a:spcAft>
                <a:spcPts val="1000"/>
              </a:spcAft>
            </a:pPr>
            <a:r>
              <a:rPr sz="1400" b="0">
                <a:solidFill>
                  <a:srgbClr val="1F2D3D"/>
                </a:solidFill>
                <a:latin typeface="微软雅黑"/>
                <a:ea typeface="微软雅黑"/>
              </a:rPr>
              <a:t>▪ 全程输出轨迹 / 状态 / 统计（丢失次数、恢复次数、FPS）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56000"/>
          </a:xfrm>
          <a:prstGeom prst="rect">
            <a:avLst/>
          </a:prstGeom>
          <a:solidFill>
            <a:srgbClr val="2A52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6000"/>
            <a:ext cx="12192119" cy="432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00800"/>
            <a:ext cx="936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04 视觉处理流程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72000" y="180000"/>
            <a:ext cx="936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08</a:t>
            </a:r>
          </a:p>
        </p:txBody>
      </p:sp>
      <p:pic>
        <p:nvPicPr>
          <p:cNvPr id="6" name="Picture 5" descr="fig3_2_视觉处理流程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4000" y="1152000"/>
            <a:ext cx="6120000" cy="690138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56000"/>
          </a:xfrm>
          <a:prstGeom prst="rect">
            <a:avLst/>
          </a:prstGeom>
          <a:solidFill>
            <a:srgbClr val="2A52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6000"/>
            <a:ext cx="12192119" cy="432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00800"/>
            <a:ext cx="936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04 创新点：遮挡后自动再捕捉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72000" y="180000"/>
            <a:ext cx="936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007999"/>
            <a:ext cx="11088000" cy="50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1">
                <a:solidFill>
                  <a:srgbClr val="E67E22"/>
                </a:solidFill>
                <a:latin typeface="微软雅黑"/>
                <a:ea typeface="微软雅黑"/>
              </a:rPr>
              <a:t>痛点：目标被遮挡时，相关滤波模板被背景污染，常规跟踪器“一挡就丢”</a:t>
            </a:r>
          </a:p>
          <a:p>
            <a:pPr algn="l">
              <a:spcAft>
                <a:spcPts val="800"/>
              </a:spcAft>
            </a:pPr>
            <a:r>
              <a:rPr sz="1700" b="1">
                <a:solidFill>
                  <a:srgbClr val="2A5298"/>
                </a:solidFill>
                <a:latin typeface="微软雅黑"/>
                <a:ea typeface="微软雅黑"/>
              </a:rPr>
              <a:t>方案：TRACKING / SEARCHING 双状态机 + 三重判定</a:t>
            </a:r>
          </a:p>
        </p:txBody>
      </p:sp>
      <p:pic>
        <p:nvPicPr>
          <p:cNvPr id="7" name="Picture 6" descr="shot3_目标被遮挡_进入搜索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2520000"/>
            <a:ext cx="3311999" cy="2483999"/>
          </a:xfrm>
          <a:prstGeom prst="rect">
            <a:avLst/>
          </a:prstGeom>
        </p:spPr>
      </p:pic>
      <p:pic>
        <p:nvPicPr>
          <p:cNvPr id="8" name="Picture 7" descr="shot4_遮挡后重新捕获_继续跟踪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92000" y="2520000"/>
            <a:ext cx="3311999" cy="2483999"/>
          </a:xfrm>
          <a:prstGeom prst="rect">
            <a:avLst/>
          </a:prstGeom>
        </p:spPr>
      </p:pic>
      <p:pic>
        <p:nvPicPr>
          <p:cNvPr id="9" name="Picture 8" descr="shot5_跟踪至末尾_轨迹完整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2000" y="2520000"/>
            <a:ext cx="3311999" cy="248399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2000" y="5724000"/>
            <a:ext cx="10800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500" b="1">
                <a:solidFill>
                  <a:srgbClr val="27AE60"/>
                </a:solidFill>
                <a:latin typeface="微软雅黑"/>
                <a:ea typeface="微软雅黑"/>
              </a:rPr>
              <a:t>实测：目标被完全遮挡约0.9秒 → 系统丢失1次 → 自动找回1次 → 继续跟踪至视频结束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56000"/>
          </a:xfrm>
          <a:prstGeom prst="rect">
            <a:avLst/>
          </a:prstGeom>
          <a:solidFill>
            <a:srgbClr val="2A52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6000"/>
            <a:ext cx="12192119" cy="432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00800"/>
            <a:ext cx="936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05 Web后端 · 管理端 · 数据库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72000" y="180000"/>
            <a:ext cx="936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080000"/>
            <a:ext cx="5580000" cy="50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A5298"/>
                </a:solidFill>
                <a:latin typeface="微软雅黑"/>
                <a:ea typeface="微软雅黑"/>
              </a:rPr>
              <a:t>Web 后端（Spring Boot + MyBatis）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</a:rPr>
              <a:t>▪ 统一返回体 {code,msg,data} + JWT 拦截器鉴权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</a:rPr>
              <a:t>▪ 管理端接口强制 ADMIN 角色（普通用户访问返回403）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</a:rPr>
              <a:t>▪ 上传 → 落盘 → 登记任务(PENDING) → 立即返回任务ID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</a:rPr>
              <a:t>▪ 线程池异步：PROCESSING → 调视觉服务 → 结果复制回存 → SUCCESS/FAILED(留痕)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</a:rPr>
              <a:t>▪ BCrypt 密码加密，密码字段不参与序列化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0" y="1080000"/>
            <a:ext cx="5328000" cy="50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A5298"/>
                </a:solidFill>
                <a:latin typeface="微软雅黑"/>
                <a:ea typeface="微软雅黑"/>
              </a:rPr>
              <a:t>数据库 zongshe3_track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</a:rPr>
              <a:t>▪ t_user：id/username唯一/password(BCrypt)/role/nickname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</a:rPr>
              <a:t>▪ t_task：user_id/文件路径/bbox/status(PENDING·PROCESSING·SUCCESS·FAILED)/结果路径/stats_json/error_msg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</a:rPr>
              <a:t>▪ 1 用户 : N 任务（级联删除）</a:t>
            </a:r>
          </a:p>
        </p:txBody>
      </p:sp>
      <p:pic>
        <p:nvPicPr>
          <p:cNvPr id="8" name="Picture 7" descr="fig4_1_数据库E-R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0000" y="3456000"/>
            <a:ext cx="5256000" cy="29839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56000"/>
          </a:xfrm>
          <a:prstGeom prst="rect">
            <a:avLst/>
          </a:prstGeom>
          <a:solidFill>
            <a:srgbClr val="2A52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6000"/>
            <a:ext cx="12192119" cy="432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00800"/>
            <a:ext cx="936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06 小程序端实现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72000" y="180000"/>
            <a:ext cx="936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007999"/>
            <a:ext cx="11088000" cy="50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2A5298"/>
                </a:solidFill>
                <a:latin typeface="微软雅黑"/>
                <a:ea typeface="微软雅黑"/>
              </a:rPr>
              <a:t>6 个页面：登录 / 注册 / 上传跟踪 / 处理结果 / 我的记录 / 个人中心；tabBar 三入口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▪ utils/request.js 统一封装：自动携带 JWT、401 自动跳登录；wx.uploadFile 携带文件与 bbox</a:t>
            </a:r>
          </a:p>
          <a:p>
            <a:pPr algn="l">
              <a:spcAft>
                <a:spcPts val="600"/>
              </a:spcAft>
            </a:pPr>
            <a:r>
              <a:rPr sz="1500" b="0">
                <a:solidFill>
                  <a:srgbClr val="1F2D3D"/>
                </a:solidFill>
                <a:latin typeface="微软雅黑"/>
                <a:ea typeface="微软雅黑"/>
              </a:rPr>
              <a:t>▪ 结果页 1.5s 轮询任务状态，完成后播放结果视频并展示“丢失/恢复/FPS”统计</a:t>
            </a:r>
          </a:p>
        </p:txBody>
      </p:sp>
      <p:pic>
        <p:nvPicPr>
          <p:cNvPr id="7" name="Picture 6" descr="mini_1_登录页原型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2000" y="2592000"/>
            <a:ext cx="1944000" cy="3980571"/>
          </a:xfrm>
          <a:prstGeom prst="rect">
            <a:avLst/>
          </a:prstGeom>
        </p:spPr>
      </p:pic>
      <p:pic>
        <p:nvPicPr>
          <p:cNvPr id="8" name="Picture 7" descr="mini_2_上传页原型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1999" y="2592000"/>
            <a:ext cx="1944000" cy="3980571"/>
          </a:xfrm>
          <a:prstGeom prst="rect">
            <a:avLst/>
          </a:prstGeom>
        </p:spPr>
      </p:pic>
      <p:pic>
        <p:nvPicPr>
          <p:cNvPr id="9" name="Picture 8" descr="mini_3_结果页原型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2000" y="2592000"/>
            <a:ext cx="1944000" cy="39805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784000" y="5184000"/>
            <a:ext cx="3096000" cy="3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606A76"/>
                </a:solidFill>
                <a:latin typeface="微软雅黑"/>
                <a:ea typeface="微软雅黑"/>
              </a:rPr>
              <a:t>（界面原型示意，运行截图见 README 指引）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56000"/>
          </a:xfrm>
          <a:prstGeom prst="rect">
            <a:avLst/>
          </a:prstGeom>
          <a:solidFill>
            <a:srgbClr val="2A52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6000"/>
            <a:ext cx="12192119" cy="432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00800"/>
            <a:ext cx="936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07 运行效果（一）：视觉跟踪结果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72000" y="180000"/>
            <a:ext cx="936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12</a:t>
            </a:r>
          </a:p>
        </p:txBody>
      </p:sp>
      <p:pic>
        <p:nvPicPr>
          <p:cNvPr id="6" name="Picture 5" descr="shot1_源视频首帧_目标待框选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080000"/>
            <a:ext cx="3456000" cy="2592000"/>
          </a:xfrm>
          <a:prstGeom prst="rect">
            <a:avLst/>
          </a:prstGeom>
        </p:spPr>
      </p:pic>
      <p:pic>
        <p:nvPicPr>
          <p:cNvPr id="7" name="Picture 6" descr="shot2_跟踪中_简单运动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0000" y="1080000"/>
            <a:ext cx="3456000" cy="2592000"/>
          </a:xfrm>
          <a:prstGeom prst="rect">
            <a:avLst/>
          </a:prstGeom>
        </p:spPr>
      </p:pic>
      <p:pic>
        <p:nvPicPr>
          <p:cNvPr id="8" name="Picture 7" descr="shot3_目标被遮挡_进入搜索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8000" y="1080000"/>
            <a:ext cx="3456000" cy="2592000"/>
          </a:xfrm>
          <a:prstGeom prst="rect">
            <a:avLst/>
          </a:prstGeom>
        </p:spPr>
      </p:pic>
      <p:pic>
        <p:nvPicPr>
          <p:cNvPr id="9" name="Picture 8" descr="shot4_遮挡后重新捕获_继续跟踪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0000" y="4104000"/>
            <a:ext cx="3456000" cy="259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2000" y="5903999"/>
            <a:ext cx="11160000" cy="5039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450" b="1">
                <a:solidFill>
                  <a:srgbClr val="2A5298"/>
                </a:solidFill>
                <a:latin typeface="微软雅黑"/>
                <a:ea typeface="微软雅黑"/>
              </a:rPr>
              <a:t>合成测试视频 640×480@30fps 420帧：正常跟踪→遮挡丢失(SEARCHING)→自动找回→轨迹完整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56000"/>
          </a:xfrm>
          <a:prstGeom prst="rect">
            <a:avLst/>
          </a:prstGeom>
          <a:solidFill>
            <a:srgbClr val="2A52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6000"/>
            <a:ext cx="12192119" cy="432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00800"/>
            <a:ext cx="936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07 运行效果（二）：网页检测端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72000" y="180000"/>
            <a:ext cx="936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007999"/>
            <a:ext cx="11088000" cy="50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A5298"/>
                </a:solidFill>
                <a:latin typeface="微软雅黑"/>
                <a:ea typeface="微软雅黑"/>
              </a:rPr>
              <a:t>浏览器直接打开 /track.html：把视频【拖拽】到网页或 Ctrl+V 粘贴，即可发起检测</a:t>
            </a:r>
          </a:p>
          <a:p>
            <a:pPr algn="l">
              <a:spcAft>
                <a:spcPts val="600"/>
              </a:spcAft>
            </a:pPr>
            <a:r>
              <a:rPr sz="1400" b="0">
                <a:solidFill>
                  <a:srgbClr val="1F2D3D"/>
                </a:solidFill>
                <a:latin typeface="微软雅黑"/>
                <a:ea typeface="微软雅黑"/>
              </a:rPr>
              <a:t>▪ 可提取首帧在画布上拖拽框选目标；处理完成后自动展示结果视频与“丢失/找回/FPS”统计</a:t>
            </a:r>
          </a:p>
        </p:txBody>
      </p:sp>
      <p:pic>
        <p:nvPicPr>
          <p:cNvPr id="7" name="Picture 6" descr="web_05_网页检测端_拖拽上传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000" y="2376000"/>
            <a:ext cx="5184000" cy="3445653"/>
          </a:xfrm>
          <a:prstGeom prst="rect">
            <a:avLst/>
          </a:prstGeom>
        </p:spPr>
      </p:pic>
      <p:pic>
        <p:nvPicPr>
          <p:cNvPr id="8" name="Picture 7" descr="web_06_网页检测端_检测结果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999" y="2376000"/>
            <a:ext cx="5184000" cy="344565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0000" y="6083999"/>
            <a:ext cx="10800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27AE60"/>
                </a:solidFill>
                <a:latin typeface="微软雅黑"/>
                <a:ea typeface="微软雅黑"/>
              </a:rPr>
              <a:t>双击【启动-网页检测端.bat】→ 浏览器自动打开检测页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56000"/>
          </a:xfrm>
          <a:prstGeom prst="rect">
            <a:avLst/>
          </a:prstGeom>
          <a:solidFill>
            <a:srgbClr val="2A52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6000"/>
            <a:ext cx="12192119" cy="432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00800"/>
            <a:ext cx="936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07 运行效果（三）：Web 管理端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72000" y="180000"/>
            <a:ext cx="936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14</a:t>
            </a:r>
          </a:p>
        </p:txBody>
      </p:sp>
      <p:pic>
        <p:nvPicPr>
          <p:cNvPr id="6" name="Picture 5" descr="web_01_登录页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1080000"/>
            <a:ext cx="3528000" cy="2071674"/>
          </a:xfrm>
          <a:prstGeom prst="rect">
            <a:avLst/>
          </a:prstGeom>
        </p:spPr>
      </p:pic>
      <p:pic>
        <p:nvPicPr>
          <p:cNvPr id="7" name="Picture 6" descr="web_02_用户管理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6000" y="1080000"/>
            <a:ext cx="4104000" cy="2409907"/>
          </a:xfrm>
          <a:prstGeom prst="rect">
            <a:avLst/>
          </a:prstGeom>
        </p:spPr>
      </p:pic>
      <p:pic>
        <p:nvPicPr>
          <p:cNvPr id="8" name="Picture 7" descr="web_03_任务记录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2000" y="1080000"/>
            <a:ext cx="3456000" cy="2029395"/>
          </a:xfrm>
          <a:prstGeom prst="rect">
            <a:avLst/>
          </a:prstGeom>
        </p:spPr>
      </p:pic>
      <p:pic>
        <p:nvPicPr>
          <p:cNvPr id="9" name="Picture 8" descr="web_04_结果弹窗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76000" y="4176000"/>
            <a:ext cx="4104000" cy="240990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0000" y="5976000"/>
            <a:ext cx="11160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1450" b="1">
                <a:solidFill>
                  <a:srgbClr val="2A5298"/>
                </a:solidFill>
                <a:latin typeface="微软雅黑"/>
                <a:ea typeface="微软雅黑"/>
              </a:rPr>
              <a:t>管理员：统计卡片 / 用户增删改查与重置密码 / 任务记录查询 / 在线播放结果视频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56000"/>
          </a:xfrm>
          <a:prstGeom prst="rect">
            <a:avLst/>
          </a:prstGeom>
          <a:solidFill>
            <a:srgbClr val="2A52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6000"/>
            <a:ext cx="12192119" cy="432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00800"/>
            <a:ext cx="936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08 系统测试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72000" y="180000"/>
            <a:ext cx="936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1080000"/>
            <a:ext cx="5472000" cy="5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A5298"/>
                </a:solidFill>
                <a:latin typeface="微软雅黑"/>
                <a:ea typeface="微软雅黑"/>
              </a:rPr>
              <a:t>功能测试（18 项用例全部通过）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</a:rPr>
              <a:t>▪ 注册/登录/改密：唯一性、弱口令、错误密码校验 ✓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</a:rPr>
              <a:t>▪ 上传：格式白名单、bbox 校验、异步处理 ✓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</a:rPr>
              <a:t>▪ 权限：普通用户访问管理端返回 403 ✓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</a:rPr>
              <a:t>▪ 管理端：用户增删查、重置密码、级联删除、统计 ✓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</a:rPr>
              <a:t>▪ 结果：/files 结果视频可在线播放 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8000" y="1080000"/>
            <a:ext cx="5400000" cy="5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2A5298"/>
                </a:solidFill>
                <a:latin typeface="微软雅黑"/>
                <a:ea typeface="微软雅黑"/>
              </a:rPr>
              <a:t>视觉专项测试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</a:rPr>
              <a:t>▪ 场景A 简单运动：420帧全程跟踪，丢失0次 ✓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</a:rPr>
              <a:t>▪ 场景B 完全遮挡~0.9s：丢失1次 → 自动找回1次 → 恢复跟踪 ✓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</a:rPr>
              <a:t>▪ 场景C 轨迹完整：末帧跟踪框贴合目标 ✓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</a:rPr>
              <a:t>▪ 性能：约 95~101 FPS（≥25FPS 实时要求）✓</a:t>
            </a:r>
          </a:p>
          <a:p>
            <a:pPr algn="l">
              <a:spcAft>
                <a:spcPts val="800"/>
              </a:spcAft>
            </a:pPr>
            <a:r>
              <a:rPr sz="1350" b="0">
                <a:solidFill>
                  <a:srgbClr val="1F2D3D"/>
                </a:solidFill>
                <a:latin typeface="微软雅黑"/>
                <a:ea typeface="微软雅黑"/>
              </a:rPr>
              <a:t>▪ 环境：Win11 / Java17 / MySQL8 / Python3.13+OpenCV4.10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56000"/>
          </a:xfrm>
          <a:prstGeom prst="rect">
            <a:avLst/>
          </a:prstGeom>
          <a:solidFill>
            <a:srgbClr val="2A52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6000"/>
            <a:ext cx="12192119" cy="432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00800"/>
            <a:ext cx="936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09 项目管理与团队分工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72000" y="180000"/>
            <a:ext cx="936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16</a:t>
            </a:r>
          </a:p>
        </p:txBody>
      </p:sp>
      <p:pic>
        <p:nvPicPr>
          <p:cNvPr id="6" name="Picture 5" descr="fig2_1_项目进度甘特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152000"/>
            <a:ext cx="6696000" cy="385058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416000" y="1224000"/>
            <a:ext cx="4392000" cy="50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1">
                <a:solidFill>
                  <a:srgbClr val="2A5298"/>
                </a:solidFill>
                <a:latin typeface="微软雅黑"/>
                <a:ea typeface="微软雅黑"/>
              </a:rPr>
              <a:t>两人团队 · Git 协作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1F2D3D"/>
                </a:solidFill>
                <a:latin typeface="微软雅黑"/>
                <a:ea typeface="微软雅黑"/>
              </a:rPr>
              <a:t>▪ 【姓名1·本人】组长：视觉模块 + Web后端 + 集成测试 + 报告</a:t>
            </a:r>
          </a:p>
          <a:p>
            <a:pPr algn="l">
              <a:spcAft>
                <a:spcPts val="1200"/>
              </a:spcAft>
            </a:pPr>
            <a:r>
              <a:rPr sz="1400" b="0">
                <a:solidFill>
                  <a:srgbClr val="1F2D3D"/>
                </a:solidFill>
                <a:latin typeface="微软雅黑"/>
                <a:ea typeface="微软雅黑"/>
              </a:rPr>
              <a:t>▪ 【姓名2】成员：小程序端 + 管理端页面 + 数据库 + 测试与PPT</a:t>
            </a:r>
          </a:p>
          <a:p>
            <a:pPr algn="l">
              <a:spcAft>
                <a:spcPts val="1200"/>
              </a:spcAft>
            </a:pPr>
            <a:r>
              <a:rPr sz="1350" b="0">
                <a:solidFill>
                  <a:srgbClr val="606A76"/>
                </a:solidFill>
                <a:latin typeface="微软雅黑"/>
                <a:ea typeface="微软雅黑"/>
              </a:rPr>
              <a:t>▪ 质量保障：命名/注释规范（文件头含学号姓名）、交叉评审、Git 提交留痕、文档同步</a:t>
            </a:r>
          </a:p>
          <a:p>
            <a:pPr algn="l">
              <a:spcAft>
                <a:spcPts val="1200"/>
              </a:spcAft>
            </a:pPr>
            <a:r>
              <a:rPr sz="1350" b="0">
                <a:solidFill>
                  <a:srgbClr val="606A76"/>
                </a:solidFill>
                <a:latin typeface="微软雅黑"/>
                <a:ea typeface="微软雅黑"/>
              </a:rPr>
              <a:t>▪ 周期：8 周，按里程碑检查进度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756000"/>
          </a:xfrm>
          <a:prstGeom prst="rect">
            <a:avLst/>
          </a:prstGeom>
          <a:solidFill>
            <a:srgbClr val="2A52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56000"/>
            <a:ext cx="12192119" cy="43200"/>
          </a:xfrm>
          <a:prstGeom prst="rect">
            <a:avLst/>
          </a:prstGeom>
          <a:solidFill>
            <a:srgbClr val="E67E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32000" y="100800"/>
            <a:ext cx="9360000" cy="5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软雅黑"/>
                <a:ea typeface="微软雅黑"/>
              </a:rPr>
              <a:t>10 总结与展望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872000" y="180000"/>
            <a:ext cx="936000" cy="432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800"/>
              </a:spcAft>
            </a:pPr>
            <a:r>
              <a:rPr sz="2000" b="1">
                <a:solidFill>
                  <a:srgbClr val="FFFFFF"/>
                </a:solidFill>
                <a:latin typeface="微软雅黑"/>
                <a:ea typeface="微软雅黑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000" y="1152000"/>
            <a:ext cx="10584000" cy="4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0"/>
              </a:spcAft>
            </a:pPr>
            <a:r>
              <a:rPr sz="2000" b="1">
                <a:solidFill>
                  <a:srgbClr val="2A5298"/>
                </a:solidFill>
                <a:latin typeface="微软雅黑"/>
                <a:ea typeface="微软雅黑"/>
              </a:rPr>
              <a:t>系统特色</a:t>
            </a:r>
          </a:p>
          <a:p>
            <a:pPr algn="l">
              <a:spcAft>
                <a:spcPts val="1000"/>
              </a:spcAft>
            </a:pPr>
            <a:r>
              <a:rPr sz="1650" b="0">
                <a:solidFill>
                  <a:srgbClr val="1F2D3D"/>
                </a:solidFill>
                <a:latin typeface="微软雅黑"/>
                <a:ea typeface="微软雅黑"/>
              </a:rPr>
              <a:t>▪ 三端联动、架构解耦：小程序 / Web管理端 / Python视觉服务 / MySQL+文件 完整闭环</a:t>
            </a:r>
          </a:p>
          <a:p>
            <a:pPr algn="l">
              <a:spcAft>
                <a:spcPts val="1000"/>
              </a:spcAft>
            </a:pPr>
            <a:r>
              <a:rPr sz="1650" b="0">
                <a:solidFill>
                  <a:srgbClr val="1F2D3D"/>
                </a:solidFill>
                <a:latin typeface="微软雅黑"/>
                <a:ea typeface="微软雅黑"/>
              </a:rPr>
              <a:t>▪ 遮挡自动重检测：直方图质量校验 + 多尺度模板匹配 + 连续帧确认 → “丢了能找回”</a:t>
            </a:r>
          </a:p>
          <a:p>
            <a:pPr algn="l">
              <a:spcAft>
                <a:spcPts val="1000"/>
              </a:spcAft>
            </a:pPr>
            <a:r>
              <a:rPr sz="1650" b="0">
                <a:solidFill>
                  <a:srgbClr val="1F2D3D"/>
                </a:solidFill>
                <a:latin typeface="微软雅黑"/>
                <a:ea typeface="微软雅黑"/>
              </a:rPr>
              <a:t>▪ 工程化完整：JWT+角色鉴权、BCrypt、异步状态机、失败留痕、Git 协作、规范文档</a:t>
            </a:r>
          </a:p>
          <a:p>
            <a:pPr algn="l">
              <a:spcAft>
                <a:spcPts val="1000"/>
              </a:spcAft>
            </a:pPr>
            <a:r>
              <a:rPr sz="1650" b="0">
                <a:solidFill>
                  <a:srgbClr val="1F2D3D"/>
                </a:solidFill>
                <a:latin typeface="微软雅黑"/>
                <a:ea typeface="微软雅黑"/>
              </a:rPr>
              <a:t>▪ 轻量可复现：免深度学习训练，普通 PC 即可运行演示</a:t>
            </a:r>
          </a:p>
          <a:p>
            <a:pPr algn="l">
              <a:spcAft>
                <a:spcPts val="1000"/>
              </a:spcAft>
            </a:pPr>
            <a:r>
              <a:rPr sz="2000" b="1">
                <a:solidFill>
                  <a:srgbClr val="E67E22"/>
                </a:solidFill>
                <a:latin typeface="微软雅黑"/>
                <a:ea typeface="微软雅黑"/>
              </a:rPr>
              <a:t>展望</a:t>
            </a:r>
          </a:p>
          <a:p>
            <a:pPr algn="l">
              <a:spcAft>
                <a:spcPts val="1000"/>
              </a:spcAft>
            </a:pPr>
            <a:r>
              <a:rPr sz="1650" b="0">
                <a:solidFill>
                  <a:srgbClr val="1F2D3D"/>
                </a:solidFill>
                <a:latin typeface="微软雅黑"/>
                <a:ea typeface="微软雅黑"/>
              </a:rPr>
              <a:t>▪ 引入 SiamRPN/ByteTrack 等深度跟踪器 + 在线模板更新，提升长时/形变遮挡鲁棒性</a:t>
            </a:r>
          </a:p>
          <a:p>
            <a:pPr algn="l">
              <a:spcAft>
                <a:spcPts val="1000"/>
              </a:spcAft>
            </a:pPr>
            <a:r>
              <a:rPr sz="1650" b="0">
                <a:solidFill>
                  <a:srgbClr val="1F2D3D"/>
                </a:solidFill>
                <a:latin typeface="微软雅黑"/>
                <a:ea typeface="微软雅黑"/>
              </a:rPr>
              <a:t>▪ 接入 RTSP 摄像头直播流，实现真正实时跟踪</a:t>
            </a:r>
          </a:p>
          <a:p>
            <a:pPr algn="l">
              <a:spcAft>
                <a:spcPts val="1000"/>
              </a:spcAft>
            </a:pPr>
            <a:r>
              <a:rPr sz="1650" b="0">
                <a:solidFill>
                  <a:srgbClr val="1F2D3D"/>
                </a:solidFill>
                <a:latin typeface="微软雅黑"/>
                <a:ea typeface="微软雅黑"/>
              </a:rPr>
              <a:t>▪ 小程序内画布框选目标；用户邮箱校验、审计日志、Docker 一键部署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2A52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20000" y="2160000"/>
            <a:ext cx="10728000" cy="14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谢谢聆听 · 敬请指正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20000" y="4320000"/>
            <a:ext cx="10728000" cy="7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800"/>
              </a:spcAft>
            </a:pPr>
            <a:r>
              <a:rPr sz="2000" b="0">
                <a:solidFill>
                  <a:srgbClr val="CFDDF2"/>
                </a:solidFill>
                <a:latin typeface="微软雅黑"/>
                <a:ea typeface="微软雅黑"/>
              </a:rPr>
              <a:t>【姓名1】 · 学号【学号1】　团队：【姓名2】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